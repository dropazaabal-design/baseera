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287000" cy="1285875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r" rtl="1">
        <a:defRPr/>
      </a:lvl1pPr>
    </p:titleStyle>
    <p:bodyStyle>
      <a:lvl1pPr algn="r" rtl="1">
        <a:defRPr/>
      </a:lvl1pPr>
    </p:bodyStyle>
    <p:otherStyle>
      <a:lvl1pPr algn="r" rtl="1"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gure" descr="baseera:pg_qzlgxn5ek5/figure"/>
          <p:cNvSpPr txBox="1"/>
          <p:nvPr/>
        </p:nvSpPr>
        <p:spPr>
          <a:xfrm>
            <a:off x="914400" y="3112770"/>
            <a:ext cx="8458200" cy="2514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1980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80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7</a:t>
            </a:r>
            <a:endParaRPr lang="ar-SA" sz="18000" dirty="0"/>
          </a:p>
        </p:txBody>
      </p:sp>
      <p:sp>
        <p:nvSpPr>
          <p:cNvPr id="3" name="title" descr="baseera:pg_qzlgxn5ek5/title"/>
          <p:cNvSpPr txBox="1"/>
          <p:nvPr/>
        </p:nvSpPr>
        <p:spPr>
          <a:xfrm>
            <a:off x="1524000" y="5665470"/>
            <a:ext cx="7848600" cy="29832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1174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87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قوانين تُدير يومك </a:t>
            </a:r>
            <a:r>
              <a:rPr lang="ar-SA" altLang="en-US" sz="8700" b="1" dirty="0">
                <a:solidFill>
                  <a:srgbClr val="14181F"/>
                </a:solidFill>
                <a:highlight>
                  <a:srgbClr val="D9F4EB"/>
                </a:highlight>
                <a:latin typeface="Cairo"/>
                <a:ea typeface="Cairo"/>
                <a:cs typeface="Cairo"/>
              </a:rPr>
              <a:t>في صمت</a:t>
            </a:r>
            <a:endParaRPr lang="ar-SA" sz="8700" dirty="0"/>
          </a:p>
        </p:txBody>
      </p:sp>
      <p:sp>
        <p:nvSpPr>
          <p:cNvPr id="4" name="subtitle" descr="baseera:pg_qzlgxn5ek5/subtitle"/>
          <p:cNvSpPr txBox="1"/>
          <p:nvPr/>
        </p:nvSpPr>
        <p:spPr>
          <a:xfrm>
            <a:off x="914400" y="8915400"/>
            <a:ext cx="8458200" cy="6400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15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اعرفها… وتحكّم بها بدل أن تتحكّم بك.</a:t>
            </a:r>
            <a:endParaRPr lang="ar-SA" sz="3150" dirty="0"/>
          </a:p>
        </p:txBody>
      </p:sp>
      <p:sp>
        <p:nvSpPr>
          <p:cNvPr id="5" name="sys-counter" descr="baseera:pg_qzlgxn5ek5/sys-counter"/>
          <p:cNvSpPr txBox="1"/>
          <p:nvPr/>
        </p:nvSpPr>
        <p:spPr>
          <a:xfrm>
            <a:off x="914400" y="533400"/>
            <a:ext cx="466725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1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1/10</a:t>
            </a:r>
            <a:endParaRPr lang="ar-SA" sz="1950" dirty="0"/>
          </a:p>
        </p:txBody>
      </p:sp>
      <p:sp>
        <p:nvSpPr>
          <p:cNvPr id="6" name="sys-swipe" descr="baseera:pg_qzlgxn5ek5/sys-swipe"/>
          <p:cNvSpPr txBox="1"/>
          <p:nvPr/>
        </p:nvSpPr>
        <p:spPr>
          <a:xfrm>
            <a:off x="1276350" y="11849100"/>
            <a:ext cx="1971675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اسحب واكتشف</a:t>
            </a:r>
            <a:endParaRPr lang="ar-SA" sz="2100" dirty="0"/>
          </a:p>
        </p:txBody>
      </p:sp>
      <p:sp>
        <p:nvSpPr>
          <p:cNvPr id="7" name="sys-swipe-arrow" descr="baseera:pg_qzlgxn5ek5/sys-swipe-arrow"/>
          <p:cNvSpPr/>
          <p:nvPr/>
        </p:nvSpPr>
        <p:spPr>
          <a:xfrm>
            <a:off x="914400" y="11944350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247650" h="247650" fill="none">
                <a:moveTo>
                  <a:pt x="206375" y="123825"/>
                </a:moveTo>
                <a:lnTo>
                  <a:pt x="51594" y="123825"/>
                </a:lnTo>
                <a:moveTo>
                  <a:pt x="113506" y="61913"/>
                </a:moveTo>
                <a:lnTo>
                  <a:pt x="51594" y="123825"/>
                </a:lnTo>
                <a:lnTo>
                  <a:pt x="113506" y="185738"/>
                </a:lnTo>
              </a:path>
            </a:pathLst>
          </a:custGeom>
          <a:noFill/>
          <a:ln w="20638" cap="rnd">
            <a:solidFill>
              <a:srgbClr val="0C855D"/>
            </a:solidFill>
            <a:round/>
          </a:ln>
        </p:spPr>
      </p:sp>
      <p:sp>
        <p:nvSpPr>
          <p:cNvPr id="8" name="sys-brand-name" descr="baseera:pg_qzlgxn5ek5/sys-brand-name"/>
          <p:cNvSpPr txBox="1"/>
          <p:nvPr/>
        </p:nvSpPr>
        <p:spPr>
          <a:xfrm>
            <a:off x="8077200" y="11849100"/>
            <a:ext cx="129540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 descr="baseera:pg_g6cdko1mp6/kicker"/>
          <p:cNvSpPr txBox="1"/>
          <p:nvPr/>
        </p:nvSpPr>
        <p:spPr>
          <a:xfrm>
            <a:off x="914400" y="3088005"/>
            <a:ext cx="84582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7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قبل أن تبدأ</a:t>
            </a:r>
            <a:endParaRPr lang="ar-SA" sz="2700" dirty="0"/>
          </a:p>
        </p:txBody>
      </p:sp>
      <p:sp>
        <p:nvSpPr>
          <p:cNvPr id="3" name="title" descr="baseera:pg_g6cdko1mp6/title"/>
          <p:cNvSpPr txBox="1"/>
          <p:nvPr/>
        </p:nvSpPr>
        <p:spPr>
          <a:xfrm>
            <a:off x="3857625" y="3888105"/>
            <a:ext cx="5514975" cy="22631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66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ليست صدفة. </a:t>
            </a:r>
            <a:r>
              <a:rPr lang="ar-SA" altLang="en-US" sz="6600" b="1" dirty="0">
                <a:solidFill>
                  <a:srgbClr val="14181F"/>
                </a:solidFill>
                <a:highlight>
                  <a:srgbClr val="D9F4EB"/>
                </a:highlight>
                <a:latin typeface="Cairo"/>
                <a:ea typeface="Cairo"/>
                <a:cs typeface="Cairo"/>
              </a:rPr>
              <a:t>إنها أنماط.</a:t>
            </a:r>
            <a:endParaRPr lang="ar-SA" sz="6600" dirty="0"/>
          </a:p>
        </p:txBody>
      </p:sp>
      <p:sp>
        <p:nvSpPr>
          <p:cNvPr id="4" name="body" descr="baseera:pg_g6cdko1mp6/body"/>
          <p:cNvSpPr txBox="1"/>
          <p:nvPr/>
        </p:nvSpPr>
        <p:spPr>
          <a:xfrm>
            <a:off x="914400" y="6646545"/>
            <a:ext cx="8458200" cy="2933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خطة تتعطّل، ومهمة تتأخر،</a:t>
            </a:r>
            <a:endParaRPr lang="ar-SA" sz="3300" dirty="0"/>
          </a:p>
          <a:p>
            <a:pPr algn="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وقرار يتأجّل بلا سبب واضح.</a:t>
            </a:r>
            <a:endParaRPr lang="ar-SA" sz="3300" dirty="0"/>
          </a:p>
          <a:p>
            <a:pPr algn="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لكلٍّ منها قانون يفسّره،</a:t>
            </a:r>
            <a:endParaRPr lang="ar-SA" sz="3300" dirty="0"/>
          </a:p>
          <a:p>
            <a:pPr algn="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وطريقة تتعامل بها معه.</a:t>
            </a:r>
            <a:endParaRPr lang="ar-SA" sz="3300" dirty="0"/>
          </a:p>
        </p:txBody>
      </p:sp>
      <p:sp>
        <p:nvSpPr>
          <p:cNvPr id="5" name="sys-counter" descr="baseera:pg_g6cdko1mp6/sys-counter"/>
          <p:cNvSpPr txBox="1"/>
          <p:nvPr/>
        </p:nvSpPr>
        <p:spPr>
          <a:xfrm>
            <a:off x="914400" y="533400"/>
            <a:ext cx="495300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1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2/10</a:t>
            </a:r>
            <a:endParaRPr lang="ar-SA" sz="1950" dirty="0"/>
          </a:p>
        </p:txBody>
      </p:sp>
      <p:sp>
        <p:nvSpPr>
          <p:cNvPr id="6" name="sys-swipe" descr="baseera:pg_g6cdko1mp6/sys-swipe"/>
          <p:cNvSpPr txBox="1"/>
          <p:nvPr/>
        </p:nvSpPr>
        <p:spPr>
          <a:xfrm>
            <a:off x="1276350" y="11849100"/>
            <a:ext cx="1971675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اسحب واكتشف</a:t>
            </a:r>
            <a:endParaRPr lang="ar-SA" sz="2100" dirty="0"/>
          </a:p>
        </p:txBody>
      </p:sp>
      <p:sp>
        <p:nvSpPr>
          <p:cNvPr id="7" name="sys-swipe-arrow" descr="baseera:pg_g6cdko1mp6/sys-swipe-arrow"/>
          <p:cNvSpPr/>
          <p:nvPr/>
        </p:nvSpPr>
        <p:spPr>
          <a:xfrm>
            <a:off x="914400" y="11944350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247650" h="247650" fill="none">
                <a:moveTo>
                  <a:pt x="206375" y="123825"/>
                </a:moveTo>
                <a:lnTo>
                  <a:pt x="51594" y="123825"/>
                </a:lnTo>
                <a:moveTo>
                  <a:pt x="113506" y="61913"/>
                </a:moveTo>
                <a:lnTo>
                  <a:pt x="51594" y="123825"/>
                </a:lnTo>
                <a:lnTo>
                  <a:pt x="113506" y="185738"/>
                </a:lnTo>
              </a:path>
            </a:pathLst>
          </a:custGeom>
          <a:noFill/>
          <a:ln w="20638" cap="rnd">
            <a:solidFill>
              <a:srgbClr val="0C855D"/>
            </a:solidFill>
            <a:round/>
          </a:ln>
        </p:spPr>
      </p:sp>
      <p:sp>
        <p:nvSpPr>
          <p:cNvPr id="8" name="sys-brand-name" descr="baseera:pg_g6cdko1mp6/sys-brand-name"/>
          <p:cNvSpPr txBox="1"/>
          <p:nvPr/>
        </p:nvSpPr>
        <p:spPr>
          <a:xfrm>
            <a:off x="8077200" y="11849100"/>
            <a:ext cx="129540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 descr="baseera:pg_3ik92tz4vf/kicker"/>
          <p:cNvSpPr txBox="1"/>
          <p:nvPr/>
        </p:nvSpPr>
        <p:spPr>
          <a:xfrm>
            <a:off x="914400" y="3207068"/>
            <a:ext cx="84582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7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1 · قانون مورفي</a:t>
            </a:r>
            <a:endParaRPr lang="ar-SA" sz="2700" dirty="0"/>
          </a:p>
        </p:txBody>
      </p:sp>
      <p:sp>
        <p:nvSpPr>
          <p:cNvPr id="3" name="title" descr="baseera:pg_3ik92tz4vf/title"/>
          <p:cNvSpPr txBox="1"/>
          <p:nvPr/>
        </p:nvSpPr>
        <p:spPr>
          <a:xfrm>
            <a:off x="1804988" y="4007168"/>
            <a:ext cx="6677025" cy="22631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66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ما يمكن أن يتعطّل… </a:t>
            </a:r>
            <a:r>
              <a:rPr lang="ar-SA" altLang="en-US" sz="6600" b="1" dirty="0">
                <a:solidFill>
                  <a:srgbClr val="14181F"/>
                </a:solidFill>
                <a:highlight>
                  <a:srgbClr val="D9F4EB"/>
                </a:highlight>
                <a:latin typeface="Cairo"/>
                <a:ea typeface="Cairo"/>
                <a:cs typeface="Cairo"/>
              </a:rPr>
              <a:t>سيتعطّل</a:t>
            </a:r>
            <a:endParaRPr lang="ar-SA" sz="6600" dirty="0"/>
          </a:p>
        </p:txBody>
      </p:sp>
      <p:sp>
        <p:nvSpPr>
          <p:cNvPr id="4" name="body-box" descr="baseera:pg_3ik92tz4vf/body-box"/>
          <p:cNvSpPr/>
          <p:nvPr/>
        </p:nvSpPr>
        <p:spPr>
          <a:xfrm>
            <a:off x="923925" y="6775133"/>
            <a:ext cx="8439150" cy="2676525"/>
          </a:xfrm>
          <a:prstGeom prst="roundRect">
            <a:avLst>
              <a:gd name="adj" fmla="val 2847"/>
            </a:avLst>
          </a:prstGeom>
          <a:noFill/>
          <a:ln w="19050" cap="rnd">
            <a:solidFill>
              <a:srgbClr val="E1E6E9"/>
            </a:solidFill>
            <a:round/>
          </a:ln>
        </p:spPr>
      </p:sp>
      <p:sp>
        <p:nvSpPr>
          <p:cNvPr id="5" name="body" descr="baseera:pg_3ik92tz4vf/body"/>
          <p:cNvSpPr txBox="1"/>
          <p:nvPr/>
        </p:nvSpPr>
        <p:spPr>
          <a:xfrm>
            <a:off x="1247775" y="7013258"/>
            <a:ext cx="7791450" cy="2200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لا تتشاءم، بل استعدّ:</a:t>
            </a:r>
            <a:endParaRPr lang="ar-SA" sz="3300" dirty="0"/>
          </a:p>
          <a:p>
            <a:pPr algn="ct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جهّز خطة بديلة،</a:t>
            </a:r>
            <a:endParaRPr lang="ar-SA" sz="3300" dirty="0"/>
          </a:p>
          <a:p>
            <a:pPr algn="ct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واترك هامشًا للطوارئ.</a:t>
            </a:r>
            <a:endParaRPr lang="ar-SA" sz="3300" dirty="0"/>
          </a:p>
        </p:txBody>
      </p:sp>
      <p:sp>
        <p:nvSpPr>
          <p:cNvPr id="6" name="sys-counter" descr="baseera:pg_3ik92tz4vf/sys-counter"/>
          <p:cNvSpPr txBox="1"/>
          <p:nvPr/>
        </p:nvSpPr>
        <p:spPr>
          <a:xfrm>
            <a:off x="914400" y="533400"/>
            <a:ext cx="504825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1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3/10</a:t>
            </a:r>
            <a:endParaRPr lang="ar-SA" sz="1950" dirty="0"/>
          </a:p>
        </p:txBody>
      </p:sp>
      <p:sp>
        <p:nvSpPr>
          <p:cNvPr id="7" name="sys-swipe" descr="baseera:pg_3ik92tz4vf/sys-swipe"/>
          <p:cNvSpPr txBox="1"/>
          <p:nvPr/>
        </p:nvSpPr>
        <p:spPr>
          <a:xfrm>
            <a:off x="1276350" y="11849100"/>
            <a:ext cx="1971675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اسحب واكتشف</a:t>
            </a:r>
            <a:endParaRPr lang="ar-SA" sz="2100" dirty="0"/>
          </a:p>
        </p:txBody>
      </p:sp>
      <p:sp>
        <p:nvSpPr>
          <p:cNvPr id="8" name="sys-swipe-arrow" descr="baseera:pg_3ik92tz4vf/sys-swipe-arrow"/>
          <p:cNvSpPr/>
          <p:nvPr/>
        </p:nvSpPr>
        <p:spPr>
          <a:xfrm>
            <a:off x="914400" y="11944350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247650" h="247650" fill="none">
                <a:moveTo>
                  <a:pt x="206375" y="123825"/>
                </a:moveTo>
                <a:lnTo>
                  <a:pt x="51594" y="123825"/>
                </a:lnTo>
                <a:moveTo>
                  <a:pt x="113506" y="61913"/>
                </a:moveTo>
                <a:lnTo>
                  <a:pt x="51594" y="123825"/>
                </a:lnTo>
                <a:lnTo>
                  <a:pt x="113506" y="185738"/>
                </a:lnTo>
              </a:path>
            </a:pathLst>
          </a:custGeom>
          <a:noFill/>
          <a:ln w="20638" cap="rnd">
            <a:solidFill>
              <a:srgbClr val="0C855D"/>
            </a:solidFill>
            <a:round/>
          </a:ln>
        </p:spPr>
      </p:sp>
      <p:sp>
        <p:nvSpPr>
          <p:cNvPr id="9" name="sys-brand-name" descr="baseera:pg_3ik92tz4vf/sys-brand-name"/>
          <p:cNvSpPr txBox="1"/>
          <p:nvPr/>
        </p:nvSpPr>
        <p:spPr>
          <a:xfrm>
            <a:off x="8077200" y="11849100"/>
            <a:ext cx="129540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 descr="baseera:pg_2nxt4c6gwg/kicker"/>
          <p:cNvSpPr txBox="1"/>
          <p:nvPr/>
        </p:nvSpPr>
        <p:spPr>
          <a:xfrm>
            <a:off x="914400" y="3073718"/>
            <a:ext cx="84582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7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2 · قانون باركنسون</a:t>
            </a:r>
            <a:endParaRPr lang="ar-SA" sz="2700" dirty="0"/>
          </a:p>
        </p:txBody>
      </p:sp>
      <p:sp>
        <p:nvSpPr>
          <p:cNvPr id="3" name="title" descr="baseera:pg_2nxt4c6gwg/title"/>
          <p:cNvSpPr txBox="1"/>
          <p:nvPr/>
        </p:nvSpPr>
        <p:spPr>
          <a:xfrm>
            <a:off x="3543300" y="3873818"/>
            <a:ext cx="5829300" cy="22631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66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العمل </a:t>
            </a:r>
            <a:r>
              <a:rPr lang="ar-SA" altLang="en-US" sz="6600" b="1" dirty="0">
                <a:solidFill>
                  <a:srgbClr val="14181F"/>
                </a:solidFill>
                <a:highlight>
                  <a:srgbClr val="D9F4EB"/>
                </a:highlight>
                <a:latin typeface="Cairo"/>
                <a:ea typeface="Cairo"/>
                <a:cs typeface="Cairo"/>
              </a:rPr>
              <a:t>يتمدّد</a:t>
            </a:r>
            <a:r>
              <a:rPr lang="ar-SA" altLang="en-US" sz="66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 ليملأ وقته</a:t>
            </a:r>
            <a:endParaRPr lang="ar-SA" sz="6600" dirty="0"/>
          </a:p>
        </p:txBody>
      </p:sp>
      <p:sp>
        <p:nvSpPr>
          <p:cNvPr id="4" name="body" descr="baseera:pg_2nxt4c6gwg/body"/>
          <p:cNvSpPr txBox="1"/>
          <p:nvPr/>
        </p:nvSpPr>
        <p:spPr>
          <a:xfrm>
            <a:off x="914400" y="6632258"/>
            <a:ext cx="8458200" cy="14668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أعطِ المهمة أسبوعًا… تأخذ أسبوعًا.</a:t>
            </a:r>
            <a:endParaRPr lang="ar-SA" sz="3300" dirty="0"/>
          </a:p>
          <a:p>
            <a:pPr algn="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أعطها يومين… تنتهي في يومين.</a:t>
            </a:r>
            <a:endParaRPr lang="ar-SA" sz="3300" dirty="0"/>
          </a:p>
        </p:txBody>
      </p:sp>
      <p:sp>
        <p:nvSpPr>
          <p:cNvPr id="5" name="takeaway-box" descr="baseera:pg_2nxt4c6gwg/takeaway-box"/>
          <p:cNvSpPr/>
          <p:nvPr/>
        </p:nvSpPr>
        <p:spPr>
          <a:xfrm>
            <a:off x="914400" y="8632508"/>
            <a:ext cx="8458200" cy="962025"/>
          </a:xfrm>
          <a:prstGeom prst="roundRect">
            <a:avLst>
              <a:gd name="adj" fmla="val 7921"/>
            </a:avLst>
          </a:prstGeom>
          <a:solidFill>
            <a:srgbClr val="D9F4EB"/>
          </a:solidFill>
          <a:ln>
            <a:noFill/>
          </a:ln>
        </p:spPr>
      </p:sp>
      <p:sp>
        <p:nvSpPr>
          <p:cNvPr id="6" name="takeaway" descr="baseera:pg_2nxt4c6gwg/takeaway"/>
          <p:cNvSpPr txBox="1"/>
          <p:nvPr/>
        </p:nvSpPr>
        <p:spPr>
          <a:xfrm>
            <a:off x="1190625" y="8813483"/>
            <a:ext cx="7905750" cy="600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7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15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حدّد موعدًا أقصر وواقعيًا.</a:t>
            </a:r>
            <a:endParaRPr lang="ar-SA" sz="3150" dirty="0"/>
          </a:p>
        </p:txBody>
      </p:sp>
      <p:sp>
        <p:nvSpPr>
          <p:cNvPr id="7" name="sys-counter" descr="baseera:pg_2nxt4c6gwg/sys-counter"/>
          <p:cNvSpPr txBox="1"/>
          <p:nvPr/>
        </p:nvSpPr>
        <p:spPr>
          <a:xfrm>
            <a:off x="914400" y="533400"/>
            <a:ext cx="523875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1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4/10</a:t>
            </a:r>
            <a:endParaRPr lang="ar-SA" sz="1950" dirty="0"/>
          </a:p>
        </p:txBody>
      </p:sp>
      <p:sp>
        <p:nvSpPr>
          <p:cNvPr id="8" name="sys-swipe" descr="baseera:pg_2nxt4c6gwg/sys-swipe"/>
          <p:cNvSpPr txBox="1"/>
          <p:nvPr/>
        </p:nvSpPr>
        <p:spPr>
          <a:xfrm>
            <a:off x="1276350" y="11849100"/>
            <a:ext cx="1971675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اسحب واكتشف</a:t>
            </a:r>
            <a:endParaRPr lang="ar-SA" sz="2100" dirty="0"/>
          </a:p>
        </p:txBody>
      </p:sp>
      <p:sp>
        <p:nvSpPr>
          <p:cNvPr id="9" name="sys-swipe-arrow" descr="baseera:pg_2nxt4c6gwg/sys-swipe-arrow"/>
          <p:cNvSpPr/>
          <p:nvPr/>
        </p:nvSpPr>
        <p:spPr>
          <a:xfrm>
            <a:off x="914400" y="11944350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247650" h="247650" fill="none">
                <a:moveTo>
                  <a:pt x="206375" y="123825"/>
                </a:moveTo>
                <a:lnTo>
                  <a:pt x="51594" y="123825"/>
                </a:lnTo>
                <a:moveTo>
                  <a:pt x="113506" y="61913"/>
                </a:moveTo>
                <a:lnTo>
                  <a:pt x="51594" y="123825"/>
                </a:lnTo>
                <a:lnTo>
                  <a:pt x="113506" y="185738"/>
                </a:lnTo>
              </a:path>
            </a:pathLst>
          </a:custGeom>
          <a:noFill/>
          <a:ln w="20638" cap="rnd">
            <a:solidFill>
              <a:srgbClr val="0C855D"/>
            </a:solidFill>
            <a:round/>
          </a:ln>
        </p:spPr>
      </p:sp>
      <p:sp>
        <p:nvSpPr>
          <p:cNvPr id="10" name="sys-brand-name" descr="baseera:pg_2nxt4c6gwg/sys-brand-name"/>
          <p:cNvSpPr txBox="1"/>
          <p:nvPr/>
        </p:nvSpPr>
        <p:spPr>
          <a:xfrm>
            <a:off x="8077200" y="11849100"/>
            <a:ext cx="129540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 descr="baseera:pg_8km4k7sljl/kicker"/>
          <p:cNvSpPr txBox="1"/>
          <p:nvPr/>
        </p:nvSpPr>
        <p:spPr>
          <a:xfrm>
            <a:off x="914400" y="2389823"/>
            <a:ext cx="84582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7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3 · مبدأ باريتو</a:t>
            </a:r>
            <a:endParaRPr lang="ar-SA" sz="2700" dirty="0"/>
          </a:p>
        </p:txBody>
      </p:sp>
      <p:sp>
        <p:nvSpPr>
          <p:cNvPr id="3" name="title" descr="baseera:pg_8km4k7sljl/title"/>
          <p:cNvSpPr txBox="1"/>
          <p:nvPr/>
        </p:nvSpPr>
        <p:spPr>
          <a:xfrm>
            <a:off x="914400" y="3189923"/>
            <a:ext cx="8458200" cy="11315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66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القليل يصنع </a:t>
            </a:r>
            <a:r>
              <a:rPr lang="ar-SA" altLang="en-US" sz="6600" b="1" dirty="0">
                <a:solidFill>
                  <a:srgbClr val="14181F"/>
                </a:solidFill>
                <a:highlight>
                  <a:srgbClr val="D9F4EB"/>
                </a:highlight>
                <a:latin typeface="Cairo"/>
                <a:ea typeface="Cairo"/>
                <a:cs typeface="Cairo"/>
              </a:rPr>
              <a:t>الكثير</a:t>
            </a:r>
            <a:endParaRPr lang="ar-SA" sz="6600" dirty="0"/>
          </a:p>
        </p:txBody>
      </p:sp>
      <p:sp>
        <p:nvSpPr>
          <p:cNvPr id="4" name="figure-band" descr="baseera:pg_8km4k7sljl/figure-band"/>
          <p:cNvSpPr/>
          <p:nvPr/>
        </p:nvSpPr>
        <p:spPr>
          <a:xfrm>
            <a:off x="914400" y="5630228"/>
            <a:ext cx="8458200" cy="689610"/>
          </a:xfrm>
          <a:prstGeom prst="rect">
            <a:avLst/>
          </a:prstGeom>
          <a:solidFill>
            <a:srgbClr val="D9F4EB"/>
          </a:solidFill>
          <a:ln>
            <a:noFill/>
          </a:ln>
        </p:spPr>
      </p:sp>
      <p:sp>
        <p:nvSpPr>
          <p:cNvPr id="5" name="figure" descr="baseera:pg_8km4k7sljl/figure"/>
          <p:cNvSpPr txBox="1"/>
          <p:nvPr/>
        </p:nvSpPr>
        <p:spPr>
          <a:xfrm>
            <a:off x="914400" y="4664393"/>
            <a:ext cx="8458200" cy="23002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18113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575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80/20</a:t>
            </a:r>
            <a:endParaRPr lang="ar-SA" sz="15750" dirty="0"/>
          </a:p>
        </p:txBody>
      </p:sp>
      <p:sp>
        <p:nvSpPr>
          <p:cNvPr id="6" name="body" descr="baseera:pg_8km4k7sljl/body"/>
          <p:cNvSpPr txBox="1"/>
          <p:nvPr/>
        </p:nvSpPr>
        <p:spPr>
          <a:xfrm>
            <a:off x="914400" y="7345680"/>
            <a:ext cx="8458200" cy="2933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معظم الأثر يأتي غالبًا</a:t>
            </a:r>
            <a:endParaRPr lang="ar-SA" sz="3300" dirty="0"/>
          </a:p>
          <a:p>
            <a:pPr algn="ct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من جزء صغير من الجهد.</a:t>
            </a:r>
            <a:endParaRPr lang="ar-SA" sz="3300" dirty="0"/>
          </a:p>
          <a:p>
            <a:pPr algn="ct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ابحث عنه في يومك،</a:t>
            </a:r>
            <a:endParaRPr lang="ar-SA" sz="3300" dirty="0"/>
          </a:p>
          <a:p>
            <a:pPr algn="ct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والنسبة تقريبية لا ثابتة.</a:t>
            </a:r>
            <a:endParaRPr lang="ar-SA" sz="3300" dirty="0"/>
          </a:p>
        </p:txBody>
      </p:sp>
      <p:sp>
        <p:nvSpPr>
          <p:cNvPr id="7" name="sys-counter" descr="baseera:pg_8km4k7sljl/sys-counter"/>
          <p:cNvSpPr txBox="1"/>
          <p:nvPr/>
        </p:nvSpPr>
        <p:spPr>
          <a:xfrm>
            <a:off x="914400" y="533400"/>
            <a:ext cx="504825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1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5/10</a:t>
            </a:r>
            <a:endParaRPr lang="ar-SA" sz="1950" dirty="0"/>
          </a:p>
        </p:txBody>
      </p:sp>
      <p:sp>
        <p:nvSpPr>
          <p:cNvPr id="8" name="sys-swipe" descr="baseera:pg_8km4k7sljl/sys-swipe"/>
          <p:cNvSpPr txBox="1"/>
          <p:nvPr/>
        </p:nvSpPr>
        <p:spPr>
          <a:xfrm>
            <a:off x="1276350" y="11849100"/>
            <a:ext cx="1971675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اسحب واكتشف</a:t>
            </a:r>
            <a:endParaRPr lang="ar-SA" sz="2100" dirty="0"/>
          </a:p>
        </p:txBody>
      </p:sp>
      <p:sp>
        <p:nvSpPr>
          <p:cNvPr id="9" name="sys-swipe-arrow" descr="baseera:pg_8km4k7sljl/sys-swipe-arrow"/>
          <p:cNvSpPr/>
          <p:nvPr/>
        </p:nvSpPr>
        <p:spPr>
          <a:xfrm>
            <a:off x="914400" y="11944350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247650" h="247650" fill="none">
                <a:moveTo>
                  <a:pt x="206375" y="123825"/>
                </a:moveTo>
                <a:lnTo>
                  <a:pt x="51594" y="123825"/>
                </a:lnTo>
                <a:moveTo>
                  <a:pt x="113506" y="61913"/>
                </a:moveTo>
                <a:lnTo>
                  <a:pt x="51594" y="123825"/>
                </a:lnTo>
                <a:lnTo>
                  <a:pt x="113506" y="185738"/>
                </a:lnTo>
              </a:path>
            </a:pathLst>
          </a:custGeom>
          <a:noFill/>
          <a:ln w="20638" cap="rnd">
            <a:solidFill>
              <a:srgbClr val="0C855D"/>
            </a:solidFill>
            <a:round/>
          </a:ln>
        </p:spPr>
      </p:sp>
      <p:sp>
        <p:nvSpPr>
          <p:cNvPr id="10" name="sys-brand-name" descr="baseera:pg_8km4k7sljl/sys-brand-name"/>
          <p:cNvSpPr txBox="1"/>
          <p:nvPr/>
        </p:nvSpPr>
        <p:spPr>
          <a:xfrm>
            <a:off x="8077200" y="11849100"/>
            <a:ext cx="129540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 descr="baseera:pg_vxt8ij2yg4/kicker"/>
          <p:cNvSpPr txBox="1"/>
          <p:nvPr/>
        </p:nvSpPr>
        <p:spPr>
          <a:xfrm>
            <a:off x="914400" y="2958465"/>
            <a:ext cx="84582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7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4 · قانون هيك</a:t>
            </a:r>
            <a:endParaRPr lang="ar-SA" sz="2700" dirty="0"/>
          </a:p>
        </p:txBody>
      </p:sp>
      <p:sp>
        <p:nvSpPr>
          <p:cNvPr id="3" name="title" descr="baseera:pg_vxt8ij2yg4/title"/>
          <p:cNvSpPr txBox="1"/>
          <p:nvPr/>
        </p:nvSpPr>
        <p:spPr>
          <a:xfrm>
            <a:off x="914400" y="3758565"/>
            <a:ext cx="8458200" cy="11315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66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كثرة الخيارات </a:t>
            </a:r>
            <a:r>
              <a:rPr lang="ar-SA" altLang="en-US" sz="6600" b="1" dirty="0">
                <a:solidFill>
                  <a:srgbClr val="14181F"/>
                </a:solidFill>
                <a:highlight>
                  <a:srgbClr val="D9F4EB"/>
                </a:highlight>
                <a:latin typeface="Cairo"/>
                <a:ea typeface="Cairo"/>
                <a:cs typeface="Cairo"/>
              </a:rPr>
              <a:t>تُبطئك</a:t>
            </a:r>
            <a:endParaRPr lang="ar-SA" sz="6600" dirty="0"/>
          </a:p>
        </p:txBody>
      </p:sp>
      <p:sp>
        <p:nvSpPr>
          <p:cNvPr id="4" name="step-1-box" descr="baseera:pg_vxt8ij2yg4/step-1-box"/>
          <p:cNvSpPr/>
          <p:nvPr/>
        </p:nvSpPr>
        <p:spPr>
          <a:xfrm>
            <a:off x="923925" y="5394960"/>
            <a:ext cx="8439150" cy="1809750"/>
          </a:xfrm>
          <a:prstGeom prst="roundRect">
            <a:avLst>
              <a:gd name="adj" fmla="val 4211"/>
            </a:avLst>
          </a:prstGeom>
          <a:noFill/>
          <a:ln w="19050" cap="rnd">
            <a:solidFill>
              <a:srgbClr val="E1E6E9"/>
            </a:solidFill>
            <a:round/>
          </a:ln>
        </p:spPr>
      </p:sp>
      <p:sp>
        <p:nvSpPr>
          <p:cNvPr id="5" name="step-1" descr="baseera:pg_vxt8ij2yg4/step-1"/>
          <p:cNvSpPr txBox="1"/>
          <p:nvPr/>
        </p:nvSpPr>
        <p:spPr>
          <a:xfrm>
            <a:off x="1200150" y="5614035"/>
            <a:ext cx="7886700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خيارات أكثر</a:t>
            </a:r>
            <a:endParaRPr lang="ar-SA" sz="3300" dirty="0"/>
          </a:p>
        </p:txBody>
      </p:sp>
      <p:sp>
        <p:nvSpPr>
          <p:cNvPr id="6" name="step-1-body" descr="baseera:pg_vxt8ij2yg4/step-1-body"/>
          <p:cNvSpPr txBox="1"/>
          <p:nvPr/>
        </p:nvSpPr>
        <p:spPr>
          <a:xfrm>
            <a:off x="1200150" y="6376035"/>
            <a:ext cx="7886700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0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قرار أبطأ وتردّد أطول</a:t>
            </a:r>
            <a:endParaRPr lang="ar-SA" sz="3000" dirty="0"/>
          </a:p>
        </p:txBody>
      </p:sp>
      <p:sp>
        <p:nvSpPr>
          <p:cNvPr id="7" name="step-1-link" descr="baseera:pg_vxt8ij2yg4/step-1-link"/>
          <p:cNvSpPr/>
          <p:nvPr/>
        </p:nvSpPr>
        <p:spPr>
          <a:xfrm>
            <a:off x="4953000" y="7357110"/>
            <a:ext cx="381000" cy="381000"/>
          </a:xfrm>
          <a:prstGeom prst="ellipse">
            <a:avLst/>
          </a:prstGeom>
          <a:solidFill>
            <a:srgbClr val="FFFFFF"/>
          </a:solidFill>
          <a:ln w="19050" cap="rnd">
            <a:solidFill>
              <a:srgbClr val="E1E6E9"/>
            </a:solidFill>
            <a:round/>
          </a:ln>
        </p:spPr>
      </p:sp>
      <p:sp>
        <p:nvSpPr>
          <p:cNvPr id="8" name="step-1-arrow" descr="baseera:pg_vxt8ij2yg4/step-1-arrow"/>
          <p:cNvSpPr/>
          <p:nvPr/>
        </p:nvSpPr>
        <p:spPr>
          <a:xfrm rot="5400000">
            <a:off x="5043488" y="7447598"/>
            <a:ext cx="200025" cy="200025"/>
          </a:xfrm>
          <a:custGeom>
            <a:avLst/>
            <a:gdLst/>
            <a:ahLst/>
            <a:cxnLst/>
            <a:rect l="0" t="0" r="r" b="b"/>
            <a:pathLst>
              <a:path w="200025" h="200025" fill="none">
                <a:moveTo>
                  <a:pt x="33338" y="100013"/>
                </a:moveTo>
                <a:lnTo>
                  <a:pt x="158353" y="100013"/>
                </a:lnTo>
                <a:moveTo>
                  <a:pt x="108347" y="50006"/>
                </a:moveTo>
                <a:lnTo>
                  <a:pt x="158353" y="100013"/>
                </a:lnTo>
                <a:lnTo>
                  <a:pt x="108347" y="150019"/>
                </a:lnTo>
              </a:path>
            </a:pathLst>
          </a:custGeom>
          <a:noFill/>
          <a:ln w="18336" cap="rnd">
            <a:solidFill>
              <a:srgbClr val="0C855D"/>
            </a:solidFill>
            <a:round/>
          </a:ln>
        </p:spPr>
      </p:sp>
      <p:sp>
        <p:nvSpPr>
          <p:cNvPr id="9" name="step-2-box" descr="baseera:pg_vxt8ij2yg4/step-2-box"/>
          <p:cNvSpPr/>
          <p:nvPr/>
        </p:nvSpPr>
        <p:spPr>
          <a:xfrm>
            <a:off x="923925" y="7890510"/>
            <a:ext cx="8439150" cy="1809750"/>
          </a:xfrm>
          <a:prstGeom prst="roundRect">
            <a:avLst>
              <a:gd name="adj" fmla="val 4211"/>
            </a:avLst>
          </a:prstGeom>
          <a:solidFill>
            <a:srgbClr val="D9F4EB"/>
          </a:solidFill>
          <a:ln w="19050" cap="rnd">
            <a:solidFill>
              <a:srgbClr val="E1E6E9"/>
            </a:solidFill>
            <a:round/>
          </a:ln>
        </p:spPr>
      </p:sp>
      <p:sp>
        <p:nvSpPr>
          <p:cNvPr id="10" name="step-2" descr="baseera:pg_vxt8ij2yg4/step-2"/>
          <p:cNvSpPr txBox="1"/>
          <p:nvPr/>
        </p:nvSpPr>
        <p:spPr>
          <a:xfrm>
            <a:off x="1200150" y="8109585"/>
            <a:ext cx="7886700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خيارات أقل</a:t>
            </a:r>
            <a:endParaRPr lang="ar-SA" sz="3300" dirty="0"/>
          </a:p>
        </p:txBody>
      </p:sp>
      <p:sp>
        <p:nvSpPr>
          <p:cNvPr id="11" name="step-2-body" descr="baseera:pg_vxt8ij2yg4/step-2-body"/>
          <p:cNvSpPr txBox="1"/>
          <p:nvPr/>
        </p:nvSpPr>
        <p:spPr>
          <a:xfrm>
            <a:off x="1200150" y="8871585"/>
            <a:ext cx="7886700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0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قرار أسرع وبداية أوضح</a:t>
            </a:r>
            <a:endParaRPr lang="ar-SA" sz="3000" dirty="0"/>
          </a:p>
        </p:txBody>
      </p:sp>
      <p:sp>
        <p:nvSpPr>
          <p:cNvPr id="12" name="sys-counter" descr="baseera:pg_vxt8ij2yg4/sys-counter"/>
          <p:cNvSpPr txBox="1"/>
          <p:nvPr/>
        </p:nvSpPr>
        <p:spPr>
          <a:xfrm>
            <a:off x="914400" y="533400"/>
            <a:ext cx="514350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1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6/10</a:t>
            </a:r>
            <a:endParaRPr lang="ar-SA" sz="1950" dirty="0"/>
          </a:p>
        </p:txBody>
      </p:sp>
      <p:sp>
        <p:nvSpPr>
          <p:cNvPr id="13" name="sys-swipe" descr="baseera:pg_vxt8ij2yg4/sys-swipe"/>
          <p:cNvSpPr txBox="1"/>
          <p:nvPr/>
        </p:nvSpPr>
        <p:spPr>
          <a:xfrm>
            <a:off x="1276350" y="11849100"/>
            <a:ext cx="1971675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اسحب واكتشف</a:t>
            </a:r>
            <a:endParaRPr lang="ar-SA" sz="2100" dirty="0"/>
          </a:p>
        </p:txBody>
      </p:sp>
      <p:sp>
        <p:nvSpPr>
          <p:cNvPr id="14" name="sys-swipe-arrow" descr="baseera:pg_vxt8ij2yg4/sys-swipe-arrow"/>
          <p:cNvSpPr/>
          <p:nvPr/>
        </p:nvSpPr>
        <p:spPr>
          <a:xfrm>
            <a:off x="914400" y="11944350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247650" h="247650" fill="none">
                <a:moveTo>
                  <a:pt x="206375" y="123825"/>
                </a:moveTo>
                <a:lnTo>
                  <a:pt x="51594" y="123825"/>
                </a:lnTo>
                <a:moveTo>
                  <a:pt x="113506" y="61913"/>
                </a:moveTo>
                <a:lnTo>
                  <a:pt x="51594" y="123825"/>
                </a:lnTo>
                <a:lnTo>
                  <a:pt x="113506" y="185738"/>
                </a:lnTo>
              </a:path>
            </a:pathLst>
          </a:custGeom>
          <a:noFill/>
          <a:ln w="20638" cap="rnd">
            <a:solidFill>
              <a:srgbClr val="0C855D"/>
            </a:solidFill>
            <a:round/>
          </a:ln>
        </p:spPr>
      </p:sp>
      <p:sp>
        <p:nvSpPr>
          <p:cNvPr id="15" name="sys-brand-name" descr="baseera:pg_vxt8ij2yg4/sys-brand-name"/>
          <p:cNvSpPr txBox="1"/>
          <p:nvPr/>
        </p:nvSpPr>
        <p:spPr>
          <a:xfrm>
            <a:off x="8077200" y="11849100"/>
            <a:ext cx="129540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 descr="baseera:pg_6sh1ltl9k8/kicker"/>
          <p:cNvSpPr txBox="1"/>
          <p:nvPr/>
        </p:nvSpPr>
        <p:spPr>
          <a:xfrm>
            <a:off x="914400" y="2392680"/>
            <a:ext cx="84582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7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5 · قانون غودهارت</a:t>
            </a:r>
            <a:endParaRPr lang="ar-SA" sz="2700" dirty="0"/>
          </a:p>
        </p:txBody>
      </p:sp>
      <p:sp>
        <p:nvSpPr>
          <p:cNvPr id="3" name="title" descr="baseera:pg_6sh1ltl9k8/title"/>
          <p:cNvSpPr txBox="1"/>
          <p:nvPr/>
        </p:nvSpPr>
        <p:spPr>
          <a:xfrm>
            <a:off x="1976438" y="3192780"/>
            <a:ext cx="6334125" cy="22631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66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حين يصبح المقياس </a:t>
            </a:r>
            <a:r>
              <a:rPr lang="ar-SA" altLang="en-US" sz="6600" b="1" dirty="0">
                <a:solidFill>
                  <a:srgbClr val="14181F"/>
                </a:solidFill>
                <a:highlight>
                  <a:srgbClr val="D9F4EB"/>
                </a:highlight>
                <a:latin typeface="Cairo"/>
                <a:ea typeface="Cairo"/>
                <a:cs typeface="Cairo"/>
              </a:rPr>
              <a:t>هدفًا</a:t>
            </a:r>
            <a:endParaRPr lang="ar-SA" sz="6600" dirty="0"/>
          </a:p>
        </p:txBody>
      </p:sp>
      <p:sp>
        <p:nvSpPr>
          <p:cNvPr id="4" name="step-1-box" descr="baseera:pg_6sh1ltl9k8/step-1-box"/>
          <p:cNvSpPr/>
          <p:nvPr/>
        </p:nvSpPr>
        <p:spPr>
          <a:xfrm>
            <a:off x="923925" y="5960745"/>
            <a:ext cx="8439150" cy="1809750"/>
          </a:xfrm>
          <a:prstGeom prst="roundRect">
            <a:avLst>
              <a:gd name="adj" fmla="val 4211"/>
            </a:avLst>
          </a:prstGeom>
          <a:noFill/>
          <a:ln w="19050" cap="rnd">
            <a:solidFill>
              <a:srgbClr val="E1E6E9"/>
            </a:solidFill>
            <a:round/>
          </a:ln>
        </p:spPr>
      </p:sp>
      <p:sp>
        <p:nvSpPr>
          <p:cNvPr id="5" name="step-1-mark" descr="baseera:pg_6sh1ltl9k8/step-1-mark"/>
          <p:cNvSpPr/>
          <p:nvPr/>
        </p:nvSpPr>
        <p:spPr>
          <a:xfrm>
            <a:off x="1057275" y="6368415"/>
            <a:ext cx="8172450" cy="377190"/>
          </a:xfrm>
          <a:prstGeom prst="rect">
            <a:avLst/>
          </a:prstGeom>
          <a:solidFill>
            <a:srgbClr val="D9F4EB"/>
          </a:solidFill>
          <a:ln>
            <a:noFill/>
          </a:ln>
        </p:spPr>
      </p:sp>
      <p:sp>
        <p:nvSpPr>
          <p:cNvPr id="6" name="step-1" descr="baseera:pg_6sh1ltl9k8/step-1"/>
          <p:cNvSpPr txBox="1"/>
          <p:nvPr/>
        </p:nvSpPr>
        <p:spPr>
          <a:xfrm>
            <a:off x="1200150" y="6179820"/>
            <a:ext cx="7886700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تقيس لتفهم</a:t>
            </a:r>
            <a:endParaRPr lang="ar-SA" sz="3300" dirty="0"/>
          </a:p>
        </p:txBody>
      </p:sp>
      <p:sp>
        <p:nvSpPr>
          <p:cNvPr id="7" name="step-1-body" descr="baseera:pg_6sh1ltl9k8/step-1-body"/>
          <p:cNvSpPr txBox="1"/>
          <p:nvPr/>
        </p:nvSpPr>
        <p:spPr>
          <a:xfrm>
            <a:off x="1200150" y="6941820"/>
            <a:ext cx="7886700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0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فيكشف لك الرقم ما يحدث</a:t>
            </a:r>
            <a:endParaRPr lang="ar-SA" sz="3000" dirty="0"/>
          </a:p>
        </p:txBody>
      </p:sp>
      <p:sp>
        <p:nvSpPr>
          <p:cNvPr id="8" name="step-1-link" descr="baseera:pg_6sh1ltl9k8/step-1-link"/>
          <p:cNvSpPr/>
          <p:nvPr/>
        </p:nvSpPr>
        <p:spPr>
          <a:xfrm>
            <a:off x="4953000" y="7922895"/>
            <a:ext cx="381000" cy="381000"/>
          </a:xfrm>
          <a:prstGeom prst="ellipse">
            <a:avLst/>
          </a:prstGeom>
          <a:solidFill>
            <a:srgbClr val="FFFFFF"/>
          </a:solidFill>
          <a:ln w="19050" cap="rnd">
            <a:solidFill>
              <a:srgbClr val="E1E6E9"/>
            </a:solidFill>
            <a:round/>
          </a:ln>
        </p:spPr>
      </p:sp>
      <p:sp>
        <p:nvSpPr>
          <p:cNvPr id="9" name="step-1-arrow" descr="baseera:pg_6sh1ltl9k8/step-1-arrow"/>
          <p:cNvSpPr/>
          <p:nvPr/>
        </p:nvSpPr>
        <p:spPr>
          <a:xfrm rot="5400000">
            <a:off x="5043488" y="8013383"/>
            <a:ext cx="200025" cy="200025"/>
          </a:xfrm>
          <a:custGeom>
            <a:avLst/>
            <a:gdLst/>
            <a:ahLst/>
            <a:cxnLst/>
            <a:rect l="0" t="0" r="r" b="b"/>
            <a:pathLst>
              <a:path w="200025" h="200025" fill="none">
                <a:moveTo>
                  <a:pt x="33338" y="100013"/>
                </a:moveTo>
                <a:lnTo>
                  <a:pt x="158353" y="100013"/>
                </a:lnTo>
                <a:moveTo>
                  <a:pt x="108347" y="50006"/>
                </a:moveTo>
                <a:lnTo>
                  <a:pt x="158353" y="100013"/>
                </a:lnTo>
                <a:lnTo>
                  <a:pt x="108347" y="150019"/>
                </a:lnTo>
              </a:path>
            </a:pathLst>
          </a:custGeom>
          <a:noFill/>
          <a:ln w="18336" cap="rnd">
            <a:solidFill>
              <a:srgbClr val="0C855D"/>
            </a:solidFill>
            <a:round/>
          </a:ln>
        </p:spPr>
      </p:sp>
      <p:sp>
        <p:nvSpPr>
          <p:cNvPr id="10" name="step-2-box" descr="baseera:pg_6sh1ltl9k8/step-2-box"/>
          <p:cNvSpPr/>
          <p:nvPr/>
        </p:nvSpPr>
        <p:spPr>
          <a:xfrm>
            <a:off x="923925" y="8456295"/>
            <a:ext cx="8439150" cy="1809750"/>
          </a:xfrm>
          <a:prstGeom prst="roundRect">
            <a:avLst>
              <a:gd name="adj" fmla="val 4211"/>
            </a:avLst>
          </a:prstGeom>
          <a:noFill/>
          <a:ln w="19050" cap="rnd">
            <a:solidFill>
              <a:srgbClr val="E1E6E9"/>
            </a:solidFill>
            <a:round/>
          </a:ln>
        </p:spPr>
      </p:sp>
      <p:sp>
        <p:nvSpPr>
          <p:cNvPr id="11" name="step-2-mark" descr="baseera:pg_6sh1ltl9k8/step-2-mark"/>
          <p:cNvSpPr/>
          <p:nvPr/>
        </p:nvSpPr>
        <p:spPr>
          <a:xfrm>
            <a:off x="1057275" y="8863965"/>
            <a:ext cx="8172450" cy="377190"/>
          </a:xfrm>
          <a:prstGeom prst="rect">
            <a:avLst/>
          </a:prstGeom>
          <a:solidFill>
            <a:srgbClr val="D9F4EB"/>
          </a:solidFill>
          <a:ln>
            <a:noFill/>
          </a:ln>
        </p:spPr>
      </p:sp>
      <p:sp>
        <p:nvSpPr>
          <p:cNvPr id="12" name="step-2" descr="baseera:pg_6sh1ltl9k8/step-2"/>
          <p:cNvSpPr txBox="1"/>
          <p:nvPr/>
        </p:nvSpPr>
        <p:spPr>
          <a:xfrm>
            <a:off x="1200150" y="8675370"/>
            <a:ext cx="7886700" cy="628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تقيس لتصل إلى رقم</a:t>
            </a:r>
            <a:endParaRPr lang="ar-SA" sz="3300" dirty="0"/>
          </a:p>
        </p:txBody>
      </p:sp>
      <p:sp>
        <p:nvSpPr>
          <p:cNvPr id="13" name="step-2-body" descr="baseera:pg_6sh1ltl9k8/step-2-body"/>
          <p:cNvSpPr txBox="1"/>
          <p:nvPr/>
        </p:nvSpPr>
        <p:spPr>
          <a:xfrm>
            <a:off x="1200150" y="9437370"/>
            <a:ext cx="7886700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0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فيتحسّن الرقم وتضيع الحقيقة</a:t>
            </a:r>
            <a:endParaRPr lang="ar-SA" sz="3000" dirty="0"/>
          </a:p>
        </p:txBody>
      </p:sp>
      <p:sp>
        <p:nvSpPr>
          <p:cNvPr id="14" name="sys-counter" descr="baseera:pg_6sh1ltl9k8/sys-counter"/>
          <p:cNvSpPr txBox="1"/>
          <p:nvPr/>
        </p:nvSpPr>
        <p:spPr>
          <a:xfrm>
            <a:off x="914400" y="533400"/>
            <a:ext cx="485775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1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7/10</a:t>
            </a:r>
            <a:endParaRPr lang="ar-SA" sz="1950" dirty="0"/>
          </a:p>
        </p:txBody>
      </p:sp>
      <p:sp>
        <p:nvSpPr>
          <p:cNvPr id="15" name="sys-swipe" descr="baseera:pg_6sh1ltl9k8/sys-swipe"/>
          <p:cNvSpPr txBox="1"/>
          <p:nvPr/>
        </p:nvSpPr>
        <p:spPr>
          <a:xfrm>
            <a:off x="1276350" y="11849100"/>
            <a:ext cx="1971675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اسحب واكتشف</a:t>
            </a:r>
            <a:endParaRPr lang="ar-SA" sz="2100" dirty="0"/>
          </a:p>
        </p:txBody>
      </p:sp>
      <p:sp>
        <p:nvSpPr>
          <p:cNvPr id="16" name="sys-swipe-arrow" descr="baseera:pg_6sh1ltl9k8/sys-swipe-arrow"/>
          <p:cNvSpPr/>
          <p:nvPr/>
        </p:nvSpPr>
        <p:spPr>
          <a:xfrm>
            <a:off x="914400" y="11944350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247650" h="247650" fill="none">
                <a:moveTo>
                  <a:pt x="206375" y="123825"/>
                </a:moveTo>
                <a:lnTo>
                  <a:pt x="51594" y="123825"/>
                </a:lnTo>
                <a:moveTo>
                  <a:pt x="113506" y="61913"/>
                </a:moveTo>
                <a:lnTo>
                  <a:pt x="51594" y="123825"/>
                </a:lnTo>
                <a:lnTo>
                  <a:pt x="113506" y="185738"/>
                </a:lnTo>
              </a:path>
            </a:pathLst>
          </a:custGeom>
          <a:noFill/>
          <a:ln w="20638" cap="rnd">
            <a:solidFill>
              <a:srgbClr val="0C855D"/>
            </a:solidFill>
            <a:round/>
          </a:ln>
        </p:spPr>
      </p:sp>
      <p:sp>
        <p:nvSpPr>
          <p:cNvPr id="17" name="sys-brand-name" descr="baseera:pg_6sh1ltl9k8/sys-brand-name"/>
          <p:cNvSpPr txBox="1"/>
          <p:nvPr/>
        </p:nvSpPr>
        <p:spPr>
          <a:xfrm>
            <a:off x="8077200" y="11849100"/>
            <a:ext cx="129540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 descr="baseera:pg_2leatm9rh2/kicker"/>
          <p:cNvSpPr txBox="1"/>
          <p:nvPr/>
        </p:nvSpPr>
        <p:spPr>
          <a:xfrm>
            <a:off x="914400" y="2879408"/>
            <a:ext cx="84582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7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6 · قانون هوفستادتر</a:t>
            </a:r>
            <a:endParaRPr lang="ar-SA" sz="2700" dirty="0"/>
          </a:p>
        </p:txBody>
      </p:sp>
      <p:sp>
        <p:nvSpPr>
          <p:cNvPr id="3" name="title-box" descr="baseera:pg_2leatm9rh2/title-box"/>
          <p:cNvSpPr/>
          <p:nvPr/>
        </p:nvSpPr>
        <p:spPr>
          <a:xfrm>
            <a:off x="923925" y="3689033"/>
            <a:ext cx="8439150" cy="3394710"/>
          </a:xfrm>
          <a:prstGeom prst="roundRect">
            <a:avLst>
              <a:gd name="adj" fmla="val 2245"/>
            </a:avLst>
          </a:prstGeom>
          <a:solidFill>
            <a:srgbClr val="D9F4EB"/>
          </a:solidFill>
          <a:ln w="19050" cap="rnd">
            <a:solidFill>
              <a:srgbClr val="E1E6E9"/>
            </a:solidFill>
            <a:round/>
          </a:ln>
        </p:spPr>
      </p:sp>
      <p:sp>
        <p:nvSpPr>
          <p:cNvPr id="4" name="title" descr="baseera:pg_2leatm9rh2/title"/>
          <p:cNvSpPr txBox="1"/>
          <p:nvPr/>
        </p:nvSpPr>
        <p:spPr>
          <a:xfrm>
            <a:off x="1304925" y="4203383"/>
            <a:ext cx="7677150" cy="23660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931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69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كل شيء يأخذ وقتًا </a:t>
            </a:r>
            <a:r>
              <a:rPr lang="ar-SA" altLang="en-US" sz="6900" b="1" dirty="0">
                <a:solidFill>
                  <a:srgbClr val="0C855D"/>
                </a:solidFill>
                <a:latin typeface="Cairo"/>
                <a:ea typeface="Cairo"/>
                <a:cs typeface="Cairo"/>
              </a:rPr>
              <a:t>أطول</a:t>
            </a:r>
            <a:r>
              <a:rPr lang="ar-SA" altLang="en-US" sz="69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 مما تتوقع</a:t>
            </a:r>
            <a:endParaRPr lang="ar-SA" sz="6900" dirty="0"/>
          </a:p>
        </p:txBody>
      </p:sp>
      <p:sp>
        <p:nvSpPr>
          <p:cNvPr id="5" name="body" descr="baseera:pg_2leatm9rh2/body"/>
          <p:cNvSpPr txBox="1"/>
          <p:nvPr/>
        </p:nvSpPr>
        <p:spPr>
          <a:xfrm>
            <a:off x="914400" y="7588568"/>
            <a:ext cx="8458200" cy="2200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حتى لو أخذت هذا القانون في حسابك.</a:t>
            </a:r>
            <a:endParaRPr lang="ar-SA" sz="3300" dirty="0"/>
          </a:p>
          <a:p>
            <a:pPr algn="ct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أضف هامشًا لكل تقدير،</a:t>
            </a:r>
            <a:endParaRPr lang="ar-SA" sz="3300" dirty="0"/>
          </a:p>
          <a:p>
            <a:pPr algn="ct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وابدأ أبكر مما تنوي.</a:t>
            </a:r>
            <a:endParaRPr lang="ar-SA" sz="3300" dirty="0"/>
          </a:p>
        </p:txBody>
      </p:sp>
      <p:sp>
        <p:nvSpPr>
          <p:cNvPr id="6" name="sys-counter" descr="baseera:pg_2leatm9rh2/sys-counter"/>
          <p:cNvSpPr txBox="1"/>
          <p:nvPr/>
        </p:nvSpPr>
        <p:spPr>
          <a:xfrm>
            <a:off x="914400" y="533400"/>
            <a:ext cx="514350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1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8/10</a:t>
            </a:r>
            <a:endParaRPr lang="ar-SA" sz="1950" dirty="0"/>
          </a:p>
        </p:txBody>
      </p:sp>
      <p:sp>
        <p:nvSpPr>
          <p:cNvPr id="7" name="sys-swipe" descr="baseera:pg_2leatm9rh2/sys-swipe"/>
          <p:cNvSpPr txBox="1"/>
          <p:nvPr/>
        </p:nvSpPr>
        <p:spPr>
          <a:xfrm>
            <a:off x="1276350" y="11849100"/>
            <a:ext cx="1971675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اسحب واكتشف</a:t>
            </a:r>
            <a:endParaRPr lang="ar-SA" sz="2100" dirty="0"/>
          </a:p>
        </p:txBody>
      </p:sp>
      <p:sp>
        <p:nvSpPr>
          <p:cNvPr id="8" name="sys-swipe-arrow" descr="baseera:pg_2leatm9rh2/sys-swipe-arrow"/>
          <p:cNvSpPr/>
          <p:nvPr/>
        </p:nvSpPr>
        <p:spPr>
          <a:xfrm>
            <a:off x="914400" y="11944350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247650" h="247650" fill="none">
                <a:moveTo>
                  <a:pt x="206375" y="123825"/>
                </a:moveTo>
                <a:lnTo>
                  <a:pt x="51594" y="123825"/>
                </a:lnTo>
                <a:moveTo>
                  <a:pt x="113506" y="61913"/>
                </a:moveTo>
                <a:lnTo>
                  <a:pt x="51594" y="123825"/>
                </a:lnTo>
                <a:lnTo>
                  <a:pt x="113506" y="185738"/>
                </a:lnTo>
              </a:path>
            </a:pathLst>
          </a:custGeom>
          <a:noFill/>
          <a:ln w="20638" cap="rnd">
            <a:solidFill>
              <a:srgbClr val="0C855D"/>
            </a:solidFill>
            <a:round/>
          </a:ln>
        </p:spPr>
      </p:sp>
      <p:sp>
        <p:nvSpPr>
          <p:cNvPr id="9" name="sys-brand-name" descr="baseera:pg_2leatm9rh2/sys-brand-name"/>
          <p:cNvSpPr txBox="1"/>
          <p:nvPr/>
        </p:nvSpPr>
        <p:spPr>
          <a:xfrm>
            <a:off x="8077200" y="11849100"/>
            <a:ext cx="129540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 descr="baseera:pg_xe3qv2hfe9/kicker"/>
          <p:cNvSpPr txBox="1"/>
          <p:nvPr/>
        </p:nvSpPr>
        <p:spPr>
          <a:xfrm>
            <a:off x="914400" y="3273743"/>
            <a:ext cx="84582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7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7 · شفرة أوكام</a:t>
            </a:r>
            <a:endParaRPr lang="ar-SA" sz="2700" dirty="0"/>
          </a:p>
        </p:txBody>
      </p:sp>
      <p:sp>
        <p:nvSpPr>
          <p:cNvPr id="3" name="title" descr="baseera:pg_xe3qv2hfe9/title"/>
          <p:cNvSpPr txBox="1"/>
          <p:nvPr/>
        </p:nvSpPr>
        <p:spPr>
          <a:xfrm>
            <a:off x="2676525" y="4073843"/>
            <a:ext cx="6696075" cy="22631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66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ابدأ بالتفسير </a:t>
            </a:r>
            <a:r>
              <a:rPr lang="ar-SA" altLang="en-US" sz="6600" b="1" dirty="0">
                <a:solidFill>
                  <a:srgbClr val="14181F"/>
                </a:solidFill>
                <a:highlight>
                  <a:srgbClr val="D9F4EB"/>
                </a:highlight>
                <a:latin typeface="Cairo"/>
                <a:ea typeface="Cairo"/>
                <a:cs typeface="Cairo"/>
              </a:rPr>
              <a:t>الأبسط</a:t>
            </a:r>
            <a:endParaRPr lang="ar-SA" sz="6600" dirty="0"/>
          </a:p>
        </p:txBody>
      </p:sp>
      <p:sp>
        <p:nvSpPr>
          <p:cNvPr id="4" name="body-rule" descr="baseera:pg_xe3qv2hfe9/body-rule"/>
          <p:cNvSpPr/>
          <p:nvPr/>
        </p:nvSpPr>
        <p:spPr>
          <a:xfrm>
            <a:off x="914400" y="6794183"/>
            <a:ext cx="8458200" cy="19050"/>
          </a:xfrm>
          <a:prstGeom prst="rect">
            <a:avLst/>
          </a:prstGeom>
          <a:solidFill>
            <a:srgbClr val="E1E6E9"/>
          </a:solidFill>
          <a:ln>
            <a:noFill/>
          </a:ln>
        </p:spPr>
      </p:sp>
      <p:sp>
        <p:nvSpPr>
          <p:cNvPr id="5" name="body" descr="baseera:pg_xe3qv2hfe9/body"/>
          <p:cNvSpPr txBox="1"/>
          <p:nvPr/>
        </p:nvSpPr>
        <p:spPr>
          <a:xfrm>
            <a:off x="914400" y="7194233"/>
            <a:ext cx="8458200" cy="22002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إذا تساوت التفسيرات في قوتها،</a:t>
            </a:r>
            <a:endParaRPr lang="ar-SA" sz="3300" dirty="0"/>
          </a:p>
          <a:p>
            <a:pPr algn="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فالأقل افتراضات أولى بالتجربة،</a:t>
            </a:r>
            <a:endParaRPr lang="ar-SA" sz="3300" dirty="0"/>
          </a:p>
          <a:p>
            <a:pPr algn="r" rtl="1">
              <a:lnSpc>
                <a:spcPts val="57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3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ثم اختبره قبل أن تعتمده.</a:t>
            </a:r>
            <a:endParaRPr lang="ar-SA" sz="3300" dirty="0"/>
          </a:p>
        </p:txBody>
      </p:sp>
      <p:sp>
        <p:nvSpPr>
          <p:cNvPr id="6" name="sys-counter" descr="baseera:pg_xe3qv2hfe9/sys-counter"/>
          <p:cNvSpPr txBox="1"/>
          <p:nvPr/>
        </p:nvSpPr>
        <p:spPr>
          <a:xfrm>
            <a:off x="914400" y="533400"/>
            <a:ext cx="514350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1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9/10</a:t>
            </a:r>
            <a:endParaRPr lang="ar-SA" sz="1950" dirty="0"/>
          </a:p>
        </p:txBody>
      </p:sp>
      <p:sp>
        <p:nvSpPr>
          <p:cNvPr id="7" name="sys-swipe" descr="baseera:pg_xe3qv2hfe9/sys-swipe"/>
          <p:cNvSpPr txBox="1"/>
          <p:nvPr/>
        </p:nvSpPr>
        <p:spPr>
          <a:xfrm>
            <a:off x="1276350" y="11849100"/>
            <a:ext cx="1971675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اسحب واكتشف</a:t>
            </a:r>
            <a:endParaRPr lang="ar-SA" sz="2100" dirty="0"/>
          </a:p>
        </p:txBody>
      </p:sp>
      <p:sp>
        <p:nvSpPr>
          <p:cNvPr id="8" name="sys-swipe-arrow" descr="baseera:pg_xe3qv2hfe9/sys-swipe-arrow"/>
          <p:cNvSpPr/>
          <p:nvPr/>
        </p:nvSpPr>
        <p:spPr>
          <a:xfrm>
            <a:off x="914400" y="11944350"/>
            <a:ext cx="247650" cy="247650"/>
          </a:xfrm>
          <a:custGeom>
            <a:avLst/>
            <a:gdLst/>
            <a:ahLst/>
            <a:cxnLst/>
            <a:rect l="0" t="0" r="r" b="b"/>
            <a:pathLst>
              <a:path w="247650" h="247650" fill="none">
                <a:moveTo>
                  <a:pt x="206375" y="123825"/>
                </a:moveTo>
                <a:lnTo>
                  <a:pt x="51594" y="123825"/>
                </a:lnTo>
                <a:moveTo>
                  <a:pt x="113506" y="61913"/>
                </a:moveTo>
                <a:lnTo>
                  <a:pt x="51594" y="123825"/>
                </a:lnTo>
                <a:lnTo>
                  <a:pt x="113506" y="185738"/>
                </a:lnTo>
              </a:path>
            </a:pathLst>
          </a:custGeom>
          <a:noFill/>
          <a:ln w="20638" cap="rnd">
            <a:solidFill>
              <a:srgbClr val="0C855D"/>
            </a:solidFill>
            <a:round/>
          </a:ln>
        </p:spPr>
      </p:sp>
      <p:sp>
        <p:nvSpPr>
          <p:cNvPr id="9" name="sys-brand-name" descr="baseera:pg_xe3qv2hfe9/sys-brand-name"/>
          <p:cNvSpPr txBox="1"/>
          <p:nvPr/>
        </p:nvSpPr>
        <p:spPr>
          <a:xfrm>
            <a:off x="8077200" y="11849100"/>
            <a:ext cx="1295400" cy="40005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100" b="1" dirty="0">
                <a:solidFill>
                  <a:srgbClr val="14181F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 descr="baseera:pg_ssamcdii90/kicker"/>
          <p:cNvSpPr txBox="1"/>
          <p:nvPr/>
        </p:nvSpPr>
        <p:spPr>
          <a:xfrm>
            <a:off x="914400" y="3233738"/>
            <a:ext cx="8458200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405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700" b="1" dirty="0">
                <a:solidFill>
                  <a:srgbClr val="0C855D"/>
                </a:solidFill>
                <a:latin typeface="Tajawal"/>
                <a:ea typeface="Tajawal"/>
                <a:cs typeface="Tajawal"/>
              </a:rPr>
              <a:t>كتاب وبس</a:t>
            </a:r>
            <a:endParaRPr lang="ar-SA" sz="2700" dirty="0"/>
          </a:p>
        </p:txBody>
      </p:sp>
      <p:sp>
        <p:nvSpPr>
          <p:cNvPr id="3" name="title" descr="baseera:pg_ssamcdii90/title"/>
          <p:cNvSpPr txBox="1"/>
          <p:nvPr/>
        </p:nvSpPr>
        <p:spPr>
          <a:xfrm>
            <a:off x="1714500" y="4033838"/>
            <a:ext cx="6858000" cy="25717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101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750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اعرف القانون. </a:t>
            </a:r>
            <a:r>
              <a:rPr lang="ar-SA" altLang="en-US" sz="7500" b="1" dirty="0">
                <a:solidFill>
                  <a:srgbClr val="14181F"/>
                </a:solidFill>
                <a:highlight>
                  <a:srgbClr val="D9F4EB"/>
                </a:highlight>
                <a:latin typeface="Cairo"/>
                <a:ea typeface="Cairo"/>
                <a:cs typeface="Cairo"/>
              </a:rPr>
              <a:t>تصرّف أذكى.</a:t>
            </a:r>
            <a:endParaRPr lang="ar-SA" sz="7500" dirty="0"/>
          </a:p>
        </p:txBody>
      </p:sp>
      <p:sp>
        <p:nvSpPr>
          <p:cNvPr id="4" name="subtitle" descr="baseera:pg_ssamcdii90/subtitle"/>
          <p:cNvSpPr txBox="1"/>
          <p:nvPr/>
        </p:nvSpPr>
        <p:spPr>
          <a:xfrm>
            <a:off x="914400" y="6929438"/>
            <a:ext cx="8458200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3000" b="0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اختر قانونًا واحدًا وجرّبه هذا الأسبوع.</a:t>
            </a:r>
            <a:endParaRPr lang="ar-SA" sz="3000" dirty="0"/>
          </a:p>
        </p:txBody>
      </p:sp>
      <p:sp>
        <p:nvSpPr>
          <p:cNvPr id="5" name="action-save-bg" descr="baseera:pg_ssamcdii90/action-save-bg"/>
          <p:cNvSpPr/>
          <p:nvPr/>
        </p:nvSpPr>
        <p:spPr>
          <a:xfrm>
            <a:off x="923925" y="8120063"/>
            <a:ext cx="8439150" cy="885825"/>
          </a:xfrm>
          <a:prstGeom prst="roundRect">
            <a:avLst>
              <a:gd name="adj" fmla="val 8602"/>
            </a:avLst>
          </a:prstGeom>
          <a:solidFill>
            <a:srgbClr val="D9F4EB"/>
          </a:solidFill>
          <a:ln w="19050" cap="rnd">
            <a:solidFill>
              <a:srgbClr val="E1E6E9"/>
            </a:solidFill>
            <a:round/>
          </a:ln>
        </p:spPr>
      </p:sp>
      <p:sp>
        <p:nvSpPr>
          <p:cNvPr id="6" name="action-save" descr="baseera:pg_ssamcdii90/action-save"/>
          <p:cNvSpPr txBox="1"/>
          <p:nvPr/>
        </p:nvSpPr>
        <p:spPr>
          <a:xfrm>
            <a:off x="1704975" y="8291513"/>
            <a:ext cx="6877050" cy="542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42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85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احفظها لترجع إليها</a:t>
            </a:r>
            <a:endParaRPr lang="ar-SA" sz="2850" dirty="0"/>
          </a:p>
        </p:txBody>
      </p:sp>
      <p:sp>
        <p:nvSpPr>
          <p:cNvPr id="7" name="action-save-icon" descr="baseera:pg_ssamcdii90/action-save-icon"/>
          <p:cNvSpPr/>
          <p:nvPr/>
        </p:nvSpPr>
        <p:spPr>
          <a:xfrm>
            <a:off x="1200150" y="8401050"/>
            <a:ext cx="323850" cy="323850"/>
          </a:xfrm>
          <a:custGeom>
            <a:avLst/>
            <a:gdLst/>
            <a:ahLst/>
            <a:cxnLst/>
            <a:rect l="0" t="0" r="r" b="b"/>
            <a:pathLst>
              <a:path w="323850" h="323850" fill="none">
                <a:moveTo>
                  <a:pt x="87709" y="47228"/>
                </a:moveTo>
                <a:lnTo>
                  <a:pt x="236141" y="47228"/>
                </a:lnTo>
                <a:cubicBezTo>
                  <a:pt x="243593" y="47228"/>
                  <a:pt x="249634" y="53269"/>
                  <a:pt x="249634" y="60722"/>
                </a:cubicBezTo>
                <a:lnTo>
                  <a:pt x="249634" y="283369"/>
                </a:lnTo>
                <a:lnTo>
                  <a:pt x="161925" y="226695"/>
                </a:lnTo>
                <a:lnTo>
                  <a:pt x="74216" y="283369"/>
                </a:lnTo>
                <a:lnTo>
                  <a:pt x="74216" y="60722"/>
                </a:lnTo>
                <a:cubicBezTo>
                  <a:pt x="74216" y="53269"/>
                  <a:pt x="80257" y="47228"/>
                  <a:pt x="87709" y="47228"/>
                </a:cubicBezTo>
                <a:close/>
              </a:path>
            </a:pathLst>
          </a:custGeom>
          <a:noFill/>
          <a:ln w="24289" cap="rnd">
            <a:solidFill>
              <a:srgbClr val="0C855D"/>
            </a:solidFill>
            <a:round/>
          </a:ln>
        </p:spPr>
      </p:sp>
      <p:sp>
        <p:nvSpPr>
          <p:cNvPr id="8" name="action-share-bg" descr="baseera:pg_ssamcdii90/action-share-bg"/>
          <p:cNvSpPr/>
          <p:nvPr/>
        </p:nvSpPr>
        <p:spPr>
          <a:xfrm>
            <a:off x="923925" y="9205913"/>
            <a:ext cx="8439150" cy="885825"/>
          </a:xfrm>
          <a:prstGeom prst="roundRect">
            <a:avLst>
              <a:gd name="adj" fmla="val 8602"/>
            </a:avLst>
          </a:prstGeom>
          <a:noFill/>
          <a:ln w="19050" cap="rnd">
            <a:solidFill>
              <a:srgbClr val="E1E6E9"/>
            </a:solidFill>
            <a:round/>
          </a:ln>
        </p:spPr>
      </p:sp>
      <p:sp>
        <p:nvSpPr>
          <p:cNvPr id="9" name="action-share" descr="baseera:pg_ssamcdii90/action-share"/>
          <p:cNvSpPr txBox="1"/>
          <p:nvPr/>
        </p:nvSpPr>
        <p:spPr>
          <a:xfrm>
            <a:off x="1704975" y="9377363"/>
            <a:ext cx="6877050" cy="5429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 rtl="1">
              <a:lnSpc>
                <a:spcPts val="427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2850" b="1" dirty="0">
                <a:solidFill>
                  <a:srgbClr val="14181F"/>
                </a:solidFill>
                <a:latin typeface="Cairo"/>
                <a:ea typeface="Cairo"/>
                <a:cs typeface="Cairo"/>
              </a:rPr>
              <a:t>أرسلها لشخص يحتاجها</a:t>
            </a:r>
            <a:endParaRPr lang="ar-SA" sz="2850" dirty="0"/>
          </a:p>
        </p:txBody>
      </p:sp>
      <p:sp>
        <p:nvSpPr>
          <p:cNvPr id="10" name="action-share-icon" descr="baseera:pg_ssamcdii90/action-share-icon"/>
          <p:cNvSpPr/>
          <p:nvPr/>
        </p:nvSpPr>
        <p:spPr>
          <a:xfrm>
            <a:off x="1200150" y="9486900"/>
            <a:ext cx="323850" cy="323850"/>
          </a:xfrm>
          <a:custGeom>
            <a:avLst/>
            <a:gdLst/>
            <a:ahLst/>
            <a:cxnLst/>
            <a:rect l="0" t="0" r="r" b="b"/>
            <a:pathLst>
              <a:path w="323850" h="323850" fill="none">
                <a:moveTo>
                  <a:pt x="40481" y="40481"/>
                </a:moveTo>
                <a:lnTo>
                  <a:pt x="188913" y="188913"/>
                </a:lnTo>
                <a:moveTo>
                  <a:pt x="40481" y="40481"/>
                </a:moveTo>
                <a:lnTo>
                  <a:pt x="134937" y="283369"/>
                </a:lnTo>
                <a:lnTo>
                  <a:pt x="188913" y="188913"/>
                </a:lnTo>
                <a:lnTo>
                  <a:pt x="283369" y="134937"/>
                </a:lnTo>
                <a:lnTo>
                  <a:pt x="40481" y="40481"/>
                </a:lnTo>
                <a:close/>
              </a:path>
            </a:pathLst>
          </a:custGeom>
          <a:noFill/>
          <a:ln w="24289" cap="rnd">
            <a:solidFill>
              <a:srgbClr val="4A515A"/>
            </a:solidFill>
            <a:round/>
          </a:ln>
        </p:spPr>
      </p:sp>
      <p:sp>
        <p:nvSpPr>
          <p:cNvPr id="11" name="sys-counter" descr="baseera:pg_ssamcdii90/sys-counter"/>
          <p:cNvSpPr txBox="1"/>
          <p:nvPr/>
        </p:nvSpPr>
        <p:spPr>
          <a:xfrm>
            <a:off x="914400" y="533400"/>
            <a:ext cx="628650" cy="371475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ctr" rtl="1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lang="ar-SA" altLang="en-US" sz="1950" b="1" dirty="0">
                <a:solidFill>
                  <a:srgbClr val="4A515A"/>
                </a:solidFill>
                <a:latin typeface="Tajawal"/>
                <a:ea typeface="Tajawal"/>
                <a:cs typeface="Tajawal"/>
              </a:rPr>
              <a:t>10/10</a:t>
            </a:r>
            <a:endParaRPr lang="ar-SA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eera">
  <a:themeElements>
    <a:clrScheme name="Baseera">
      <a:dk1>
        <a:srgbClr val="14181F"/>
      </a:dk1>
      <a:lt1>
        <a:srgbClr val="FFFFFF"/>
      </a:lt1>
      <a:dk2>
        <a:srgbClr val="FFFFFF"/>
      </a:dk2>
      <a:lt2>
        <a:srgbClr val="F3F7F5"/>
      </a:lt2>
      <a:accent1>
        <a:srgbClr val="0C855D"/>
      </a:accent1>
      <a:accent2>
        <a:srgbClr val="4A515A"/>
      </a:accent2>
      <a:accent3>
        <a:srgbClr val="F3F7F5"/>
      </a:accent3>
      <a:accent4>
        <a:srgbClr val="FFFFFF"/>
      </a:accent4>
      <a:accent5>
        <a:srgbClr val="14181F"/>
      </a:accent5>
      <a:accent6>
        <a:srgbClr val="FFFFFF"/>
      </a:accent6>
      <a:hlink>
        <a:srgbClr val="0C855D"/>
      </a:hlink>
      <a:folHlink>
        <a:srgbClr val="4A515A"/>
      </a:folHlink>
    </a:clrScheme>
    <a:fontScheme name="Baseera">
      <a:majorFont>
        <a:latin typeface="Cairo"/>
        <a:ea typeface=""/>
        <a:cs typeface="Cairo"/>
      </a:majorFont>
      <a:minorFont>
        <a:latin typeface="Tajawal"/>
        <a:ea typeface=""/>
        <a:cs typeface="Tajawal"/>
      </a:minorFont>
    </a:fontScheme>
    <a:fmtScheme name="Baseer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Baseera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كاروسيل «أشهر 7 قوانين في العالم»: غلاف برقم، تمهيد، 7 قوانين كلٌّ بتوزيع مختلف، خاتمة بحفظ ومشاركة — أسلوب تعليمي بتظليل نعناعي</dc:title>
  <dc:creator>بصيرة</dc:creator>
  <dc:language>ar</dc:language>
  <dc:identifier>d_pbsk3b6gxq75</dc:identifier>
  <dcterms:created xsi:type="dcterms:W3CDTF">2026-10-03T12:53:37.581Z</dcterms:created>
</cp:coreProperties>
</file>